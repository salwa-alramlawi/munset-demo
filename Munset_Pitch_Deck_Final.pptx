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7" d="100"/>
          <a:sy n="57" d="100"/>
        </p:scale>
        <p:origin x="99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8282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0" y="-2743200"/>
            <a:ext cx="9144000" cy="914400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34095" y="2286000"/>
            <a:ext cx="9144000" cy="9144000"/>
          </a:xfrm>
          <a:prstGeom prst="ellipse">
            <a:avLst/>
          </a:prstGeom>
          <a:solidFill>
            <a:srgbClr val="4C1D95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0" y="173736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62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فريق</a:t>
            </a:r>
            <a:r>
              <a:rPr lang="en-US" sz="6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62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مُنصِت</a:t>
            </a:r>
            <a:endParaRPr lang="en-US" sz="6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0" y="3025471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C4B5F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المجال : أتمتة الأعمال والمؤسسات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0" y="384048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0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المشروع</a:t>
            </a: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en-US" sz="20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منظومة</a:t>
            </a: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وكلاء ذكية لتوثيق وتحليل الجلسات القضائية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0" y="45720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Agenticthon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0" y="5669280"/>
            <a:ext cx="2560320" cy="5486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0" y="56692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اكتشف</a:t>
            </a: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↗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Image 0" descr="/home/claude/munset_deck/assets/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3040"/>
            <a:ext cx="5486400" cy="35661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65760" y="5212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· A2A Protocol · Real-time Analysis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65760" y="2743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5C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Agenticthon 2026 · جامعة الأمير سطام بن عبدالعزيز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619695" y="3200400"/>
            <a:ext cx="7315200" cy="731520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800" y="6400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4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مُنصِت؟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6278728" y="2194560"/>
            <a:ext cx="4937760" cy="1005840"/>
          </a:xfrm>
          <a:prstGeom prst="roundRect">
            <a:avLst>
              <a:gd name="adj" fmla="val 10909"/>
            </a:avLst>
          </a:prstGeom>
          <a:solidFill>
            <a:srgbClr val="1A1F4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143336" y="2331720"/>
            <a:ext cx="73152" cy="7315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210648" y="2359152"/>
            <a:ext cx="8229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644488" y="2359152"/>
            <a:ext cx="3474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توثيق يدوي مُرهق يستنزف وقت القضاة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75208" y="2194560"/>
            <a:ext cx="4937760" cy="1005840"/>
          </a:xfrm>
          <a:prstGeom prst="roundRect">
            <a:avLst>
              <a:gd name="adj" fmla="val 10909"/>
            </a:avLst>
          </a:prstGeom>
          <a:solidFill>
            <a:srgbClr val="1A1F4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839816" y="2331720"/>
            <a:ext cx="73152" cy="7315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07128" y="2359152"/>
            <a:ext cx="8229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340968" y="2359152"/>
            <a:ext cx="3474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 وكلاء ذكية تحوّل الصوت إلى محضر مُهيكل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78728" y="3520440"/>
            <a:ext cx="4937760" cy="1005840"/>
          </a:xfrm>
          <a:prstGeom prst="roundRect">
            <a:avLst>
              <a:gd name="adj" fmla="val 10909"/>
            </a:avLst>
          </a:prstGeom>
          <a:solidFill>
            <a:srgbClr val="1A1F4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1143336" y="3657600"/>
            <a:ext cx="73152" cy="7315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210648" y="3685032"/>
            <a:ext cx="8229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644488" y="3685032"/>
            <a:ext cx="3474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A2A ثنائي الاتجاه + مراجعة جودة آلية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75208" y="3520440"/>
            <a:ext cx="4937760" cy="1005840"/>
          </a:xfrm>
          <a:prstGeom prst="roundRect">
            <a:avLst>
              <a:gd name="adj" fmla="val 10909"/>
            </a:avLst>
          </a:prstGeom>
          <a:solidFill>
            <a:srgbClr val="1A1F4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839816" y="3657600"/>
            <a:ext cx="73152" cy="7315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07128" y="3685032"/>
            <a:ext cx="8229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340968" y="3685032"/>
            <a:ext cx="3474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واجهة عربية + مساعد تفاعلي للقاضي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278728" y="4846320"/>
            <a:ext cx="4937760" cy="1005840"/>
          </a:xfrm>
          <a:prstGeom prst="roundRect">
            <a:avLst>
              <a:gd name="adj" fmla="val 10909"/>
            </a:avLst>
          </a:prstGeom>
          <a:solidFill>
            <a:srgbClr val="1A1F4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143336" y="4983480"/>
            <a:ext cx="73152" cy="7315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210648" y="5010912"/>
            <a:ext cx="8229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644488" y="5010912"/>
            <a:ext cx="3474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+90% توفير في وقت التوثيق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75208" y="4846320"/>
            <a:ext cx="4937760" cy="1005840"/>
          </a:xfrm>
          <a:prstGeom prst="roundRect">
            <a:avLst>
              <a:gd name="adj" fmla="val 10909"/>
            </a:avLst>
          </a:prstGeom>
          <a:solidFill>
            <a:srgbClr val="1A1F4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839816" y="4983480"/>
            <a:ext cx="73152" cy="7315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07128" y="5010912"/>
            <a:ext cx="8229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1340968" y="5010912"/>
            <a:ext cx="3474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 سحابي + On-Prem GPU — رؤية 2030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مُنصِت · Munset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60175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619695" y="3200400"/>
            <a:ext cx="7315200" cy="731520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0" y="1097280"/>
            <a:ext cx="7680960" cy="1737360"/>
          </a:xfrm>
          <a:prstGeom prst="roundRect">
            <a:avLst>
              <a:gd name="adj" fmla="val 7895"/>
            </a:avLst>
          </a:prstGeom>
          <a:solidFill>
            <a:srgbClr val="1A1F4E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0" y="1097280"/>
            <a:ext cx="768096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13258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0" y="12801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المشكلة</a:t>
            </a:r>
            <a:endParaRPr lang="en-US"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327855" y="1644535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/>
            <a:endParaRPr lang="ar-EG" sz="1600" i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توثيق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الجلسات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القضائية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بشكل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يدوي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يُعد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عملية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مُرهقة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تستنزف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وقتاً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كبيراً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،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كما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أنه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عُرضة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للتأخير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والأخطاء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البشرية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،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مما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ينعكس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سلباً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على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سرعة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الفصل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في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القضايا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ويؤثر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على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دقة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وجودة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الأرشفة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r"/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772400" y="3040380"/>
            <a:ext cx="4023360" cy="2468880"/>
          </a:xfrm>
          <a:prstGeom prst="roundRect">
            <a:avLst>
              <a:gd name="adj" fmla="val 5556"/>
            </a:avLst>
          </a:prstGeom>
          <a:solidFill>
            <a:srgbClr val="1A1F4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315468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1440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تأثيرها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7955280" y="3534295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r" rtl="1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تأخّر الفصل في القضايا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r" rtl="1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ارتفاع العبء على أمناء الجلسات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r" rtl="1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فقدان تفاصيل دقيقة عند التدوين اليدوي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r" rtl="1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صعوبة البحث والاستعلام في المحاضر السابقة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4114800" y="3017520"/>
            <a:ext cx="3474720" cy="2468880"/>
          </a:xfrm>
          <a:prstGeom prst="roundRect">
            <a:avLst>
              <a:gd name="adj" fmla="val 5556"/>
            </a:avLst>
          </a:prstGeom>
          <a:solidFill>
            <a:srgbClr val="131838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324612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297680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الفجوة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4297680" y="374904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/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الاعتماد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على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التفريغ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اليدوي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، </a:t>
            </a:r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إلى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جانب ضعف </a:t>
            </a:r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التكامل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بين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أنظمة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الأرشفة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والبحث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والتحليل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القانوني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، </a:t>
            </a:r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يؤدي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إلى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إهدار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فرص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توظيف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الذكاء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الاصطناعي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في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أتمتة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إعداد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المحاضر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وتحسين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كفاءتها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4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مُنصِت · Munset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460175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B0F34F71-5F40-1B2F-9E4C-A506E7A3D9F4}"/>
              </a:ext>
            </a:extLst>
          </p:cNvPr>
          <p:cNvSpPr/>
          <p:nvPr/>
        </p:nvSpPr>
        <p:spPr>
          <a:xfrm>
            <a:off x="365760" y="301752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0" b="1" kern="0" spc="-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900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EFB5D126-CA93-D6CC-B285-A974EC4349F2}"/>
              </a:ext>
            </a:extLst>
          </p:cNvPr>
          <p:cNvSpPr/>
          <p:nvPr/>
        </p:nvSpPr>
        <p:spPr>
          <a:xfrm>
            <a:off x="36576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4B5FD"/>
                </a:solidFill>
                <a:ea typeface="Tajawal" pitchFamily="34" charset="-122"/>
                <a:cs typeface="Tajawal" pitchFamily="34" charset="-120"/>
              </a:rPr>
              <a:t>من وقت المراجعة اليدوية</a:t>
            </a:r>
            <a:endParaRPr lang="en-US" sz="1500" dirty="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415CD42E-BFB9-3AD2-AA42-151B1B292ADF}"/>
              </a:ext>
            </a:extLst>
          </p:cNvPr>
          <p:cNvSpPr/>
          <p:nvPr/>
        </p:nvSpPr>
        <p:spPr>
          <a:xfrm>
            <a:off x="365760" y="45262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B95C7"/>
                </a:solidFill>
                <a:ea typeface="Tajawal" pitchFamily="34" charset="-122"/>
                <a:cs typeface="Tajawal" pitchFamily="34" charset="-120"/>
              </a:rPr>
              <a:t>يمكن توفيره عبر الذكاء الاصطناعي في تفريغ وتحليل الجلسات القانونية</a:t>
            </a:r>
            <a:endParaRPr lang="en-US" sz="12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A4D56B97-ADBB-FFA9-2415-8378BAA47008}"/>
              </a:ext>
            </a:extLst>
          </p:cNvPr>
          <p:cNvSpPr/>
          <p:nvPr/>
        </p:nvSpPr>
        <p:spPr>
          <a:xfrm>
            <a:off x="365760" y="5257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SCIRP 2025 · Rev Legal AI Study 2025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619695" y="3200400"/>
            <a:ext cx="7315200" cy="731520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303520" y="36576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0" y="365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الحل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منصة مُنصِت</a:t>
            </a:r>
            <a:endParaRPr lang="en-US" sz="5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698480" y="2103120"/>
            <a:ext cx="45720" cy="6400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منظومة وكلاء ذكية تُؤتمت رحلة توثيق الجلسة القضائية — من الصوت إلى محضر قانوني مُهيكل جاهز للبحث، مع كشف التناقضات في أقوال الأطراف عبر الجلسات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" name="Image 0" descr="/home/claude/munset_deck/assets/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3017520"/>
            <a:ext cx="3931920" cy="256032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11612880" y="3136392"/>
            <a:ext cx="182880" cy="18288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229600" y="3218688"/>
            <a:ext cx="3200400" cy="18288"/>
          </a:xfrm>
          <a:prstGeom prst="rect">
            <a:avLst/>
          </a:prstGeom>
          <a:solidFill>
            <a:srgbClr val="2A2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138160" y="30175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تفريغ الصوت تلقائياً مع تحديد المتحدثين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11612880" y="3621024"/>
            <a:ext cx="182880" cy="18288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8229600" y="3703320"/>
            <a:ext cx="3200400" cy="18288"/>
          </a:xfrm>
          <a:prstGeom prst="rect">
            <a:avLst/>
          </a:prstGeom>
          <a:solidFill>
            <a:srgbClr val="2A2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138160" y="350215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ar-EG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</a:t>
            </a:r>
            <a:r>
              <a:rPr lang="en-US" sz="12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طلبات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، </a:t>
            </a:r>
            <a:r>
              <a:rPr lang="ar-EG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</a:t>
            </a:r>
            <a:r>
              <a:rPr lang="en-US" sz="12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دفوع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، </a:t>
            </a:r>
            <a:r>
              <a:rPr lang="ar-EG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</a:t>
            </a:r>
            <a:r>
              <a:rPr lang="en-US" sz="12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أدلة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ar-EG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</a:t>
            </a:r>
            <a:r>
              <a:rPr lang="en-US" sz="12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تحليل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ar-EG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</a:t>
            </a:r>
            <a:r>
              <a:rPr lang="en-US" sz="12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قانوني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11612880" y="4105656"/>
            <a:ext cx="182880" cy="18288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8229600" y="4187952"/>
            <a:ext cx="3200400" cy="18288"/>
          </a:xfrm>
          <a:prstGeom prst="rect">
            <a:avLst/>
          </a:prstGeom>
          <a:solidFill>
            <a:srgbClr val="2A2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138160" y="398678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محضر جلسة </a:t>
            </a:r>
            <a:r>
              <a:rPr lang="en-US" sz="12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وملخص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تنفيذي جاهز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11612880" y="4590288"/>
            <a:ext cx="182880" cy="18288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8229600" y="4672584"/>
            <a:ext cx="3200400" cy="18288"/>
          </a:xfrm>
          <a:prstGeom prst="rect">
            <a:avLst/>
          </a:prstGeom>
          <a:solidFill>
            <a:srgbClr val="2A2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8138160" y="4471416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مراجعة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ar-EG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</a:t>
            </a:r>
            <a:r>
              <a:rPr lang="en-US" sz="12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جودة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لكل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ar-EG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المخرجات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11612880" y="5074920"/>
            <a:ext cx="182880" cy="18288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8229600" y="5157216"/>
            <a:ext cx="3200400" cy="18288"/>
          </a:xfrm>
          <a:prstGeom prst="rect">
            <a:avLst/>
          </a:prstGeom>
          <a:solidFill>
            <a:srgbClr val="2A2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138160" y="495604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مساعد تفاعلي للإجابة عن أسئلة الجلسة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مُنصِت · Munset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460175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8" name="Text 7">
            <a:extLst>
              <a:ext uri="{FF2B5EF4-FFF2-40B4-BE49-F238E27FC236}">
                <a16:creationId xmlns:a16="http://schemas.microsoft.com/office/drawing/2014/main" id="{F1E5E230-09EB-4489-0098-617C469804FA}"/>
              </a:ext>
            </a:extLst>
          </p:cNvPr>
          <p:cNvSpPr/>
          <p:nvPr/>
        </p:nvSpPr>
        <p:spPr>
          <a:xfrm>
            <a:off x="365760" y="3017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C4B5FD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أثر </a:t>
            </a:r>
            <a:r>
              <a:rPr lang="en-US" sz="1400" dirty="0">
                <a:solidFill>
                  <a:srgbClr val="C4B5FD"/>
                </a:solidFill>
                <a:ea typeface="Tajawal" pitchFamily="34" charset="-122"/>
                <a:cs typeface="Tajawal" pitchFamily="34" charset="-120"/>
              </a:rPr>
              <a:t>موثّق</a:t>
            </a:r>
            <a:r>
              <a:rPr lang="en-US" sz="1400" dirty="0">
                <a:solidFill>
                  <a:srgbClr val="C4B5FD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علمياً</a:t>
            </a:r>
            <a:endParaRPr lang="en-US" sz="1400" dirty="0"/>
          </a:p>
        </p:txBody>
      </p:sp>
      <p:sp>
        <p:nvSpPr>
          <p:cNvPr id="39" name="Text 8">
            <a:extLst>
              <a:ext uri="{FF2B5EF4-FFF2-40B4-BE49-F238E27FC236}">
                <a16:creationId xmlns:a16="http://schemas.microsoft.com/office/drawing/2014/main" id="{B044A5AF-1753-4104-A5AD-CF8D5432A6D1}"/>
              </a:ext>
            </a:extLst>
          </p:cNvPr>
          <p:cNvSpPr/>
          <p:nvPr/>
        </p:nvSpPr>
        <p:spPr>
          <a:xfrm>
            <a:off x="365760" y="3337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C4B5FD"/>
                </a:solidFill>
                <a:ea typeface="Tajawal" pitchFamily="34" charset="-122"/>
                <a:cs typeface="Tajawal" pitchFamily="34" charset="-120"/>
              </a:rPr>
              <a:t>لاستخدام</a:t>
            </a:r>
            <a:r>
              <a:rPr lang="en-US" sz="1400" dirty="0">
                <a:solidFill>
                  <a:srgbClr val="C4B5FD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الذكاء الاصطناعي:</a:t>
            </a:r>
            <a:endParaRPr lang="en-US" sz="1400" dirty="0"/>
          </a:p>
        </p:txBody>
      </p:sp>
      <p:sp>
        <p:nvSpPr>
          <p:cNvPr id="40" name="Shape 9">
            <a:extLst>
              <a:ext uri="{FF2B5EF4-FFF2-40B4-BE49-F238E27FC236}">
                <a16:creationId xmlns:a16="http://schemas.microsoft.com/office/drawing/2014/main" id="{B9A6CBD2-7CCA-70D5-104E-A5695722D598}"/>
              </a:ext>
            </a:extLst>
          </p:cNvPr>
          <p:cNvSpPr/>
          <p:nvPr/>
        </p:nvSpPr>
        <p:spPr>
          <a:xfrm>
            <a:off x="365760" y="3840480"/>
            <a:ext cx="3474720" cy="1188720"/>
          </a:xfrm>
          <a:prstGeom prst="roundRect">
            <a:avLst>
              <a:gd name="adj" fmla="val 9231"/>
            </a:avLst>
          </a:prstGeom>
          <a:solidFill>
            <a:srgbClr val="131838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34EB380-EF55-B114-E056-8DF872780A99}"/>
              </a:ext>
            </a:extLst>
          </p:cNvPr>
          <p:cNvSpPr/>
          <p:nvPr/>
        </p:nvSpPr>
        <p:spPr>
          <a:xfrm>
            <a:off x="365760" y="38862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56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770B1629-31FF-86F7-71A1-89C51434A891}"/>
              </a:ext>
            </a:extLst>
          </p:cNvPr>
          <p:cNvSpPr/>
          <p:nvPr/>
        </p:nvSpPr>
        <p:spPr>
          <a:xfrm>
            <a:off x="457200" y="4572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من المحامين: الذكاء الاصطناعي يوفّر 6–10 ساعات أسبوعياً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Shape 12">
            <a:extLst>
              <a:ext uri="{FF2B5EF4-FFF2-40B4-BE49-F238E27FC236}">
                <a16:creationId xmlns:a16="http://schemas.microsoft.com/office/drawing/2014/main" id="{53567CAB-4DB1-151C-6CD7-4D17F2DB7E11}"/>
              </a:ext>
            </a:extLst>
          </p:cNvPr>
          <p:cNvSpPr/>
          <p:nvPr/>
        </p:nvSpPr>
        <p:spPr>
          <a:xfrm>
            <a:off x="365760" y="5212080"/>
            <a:ext cx="3474720" cy="1188720"/>
          </a:xfrm>
          <a:prstGeom prst="roundRect">
            <a:avLst>
              <a:gd name="adj" fmla="val 9231"/>
            </a:avLst>
          </a:prstGeom>
          <a:solidFill>
            <a:srgbClr val="131838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13">
            <a:extLst>
              <a:ext uri="{FF2B5EF4-FFF2-40B4-BE49-F238E27FC236}">
                <a16:creationId xmlns:a16="http://schemas.microsoft.com/office/drawing/2014/main" id="{95CF5E7E-8823-AB81-5103-DC6B16C8F2EA}"/>
              </a:ext>
            </a:extLst>
          </p:cNvPr>
          <p:cNvSpPr/>
          <p:nvPr/>
        </p:nvSpPr>
        <p:spPr>
          <a:xfrm>
            <a:off x="365760" y="52578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5600" dirty="0"/>
          </a:p>
        </p:txBody>
      </p:sp>
      <p:sp>
        <p:nvSpPr>
          <p:cNvPr id="45" name="Text 14">
            <a:extLst>
              <a:ext uri="{FF2B5EF4-FFF2-40B4-BE49-F238E27FC236}">
                <a16:creationId xmlns:a16="http://schemas.microsoft.com/office/drawing/2014/main" id="{282E13DB-83F9-B069-253A-4364EA8154B5}"/>
              </a:ext>
            </a:extLst>
          </p:cNvPr>
          <p:cNvSpPr/>
          <p:nvPr/>
        </p:nvSpPr>
        <p:spPr>
          <a:xfrm>
            <a:off x="457200" y="5943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دقة تفريغ Whisper على الصوت العربي الواضح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619695" y="3200400"/>
            <a:ext cx="7315200" cy="731520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75608" y="537633"/>
            <a:ext cx="3840480" cy="7315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75608" y="514773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(A2A) </a:t>
            </a:r>
            <a:r>
              <a:rPr lang="en-US" sz="20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هيكلة</a:t>
            </a: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تدفق</a:t>
            </a: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الوكلاء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332720" y="1554480"/>
            <a:ext cx="1280160" cy="502920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332720" y="15544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بداية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875520" y="2286000"/>
            <a:ext cx="2194560" cy="502920"/>
          </a:xfrm>
          <a:prstGeom prst="roundRect">
            <a:avLst>
              <a:gd name="adj" fmla="val 18182"/>
            </a:avLst>
          </a:prstGeom>
          <a:solidFill>
            <a:srgbClr val="E0E0E0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875520" y="22860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F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رفع التسجيل الصوتي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972800" y="2788920"/>
            <a:ext cx="0" cy="155448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875520" y="2944368"/>
            <a:ext cx="2194560" cy="502920"/>
          </a:xfrm>
          <a:prstGeom prst="roundRect">
            <a:avLst>
              <a:gd name="adj" fmla="val 18182"/>
            </a:avLst>
          </a:prstGeom>
          <a:solidFill>
            <a:srgbClr val="A78BF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875520" y="294436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(Whisper + </a:t>
            </a:r>
            <a:r>
              <a:rPr lang="en-US" sz="11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pyannote</a:t>
            </a: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11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وكيل</a:t>
            </a: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التفريغ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972800" y="3447288"/>
            <a:ext cx="0" cy="155448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75520" y="3602736"/>
            <a:ext cx="2194560" cy="502920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448495" y="3602736"/>
            <a:ext cx="262158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1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Claudeوكيل</a:t>
            </a: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التحليل</a:t>
            </a: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القانوني</a:t>
            </a:r>
            <a:r>
              <a:rPr lang="ar-EG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0972800" y="4105656"/>
            <a:ext cx="0" cy="155448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875520" y="4261104"/>
            <a:ext cx="2194560" cy="502920"/>
          </a:xfrm>
          <a:prstGeom prst="roundRect">
            <a:avLst>
              <a:gd name="adj" fmla="val 18182"/>
            </a:avLst>
          </a:prstGeom>
          <a:solidFill>
            <a:srgbClr val="EDE4FF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875520" y="4261104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وكيل التلخيص + محضر الجلسة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0972800" y="4764024"/>
            <a:ext cx="0" cy="155448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875520" y="4919472"/>
            <a:ext cx="2194560" cy="502920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875520" y="491947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وكيل المراجعة وتقرير الجودة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784080" y="5623560"/>
            <a:ext cx="2377440" cy="777240"/>
          </a:xfrm>
          <a:prstGeom prst="diamond">
            <a:avLst/>
          </a:prstGeom>
          <a:solidFill>
            <a:srgbClr val="FBCFE8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784080" y="56235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1A1F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جودة</a:t>
            </a:r>
            <a:r>
              <a:rPr lang="en-US" sz="1100" b="1" dirty="0">
                <a:solidFill>
                  <a:srgbClr val="1A1F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1A1F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مقبولة</a:t>
            </a:r>
            <a:r>
              <a:rPr lang="en-US" sz="1100" b="1" dirty="0">
                <a:solidFill>
                  <a:srgbClr val="1A1F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؟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114800" y="5760720"/>
            <a:ext cx="3017520" cy="54864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0" y="57607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F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محضر جاهز + مساعد تفاعلي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371600" y="5760720"/>
            <a:ext cx="1280160" cy="54864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371600" y="57607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نهاية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686800" y="5989320"/>
            <a:ext cx="109728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686800" y="4114800"/>
            <a:ext cx="0" cy="187452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686800" y="4114800"/>
            <a:ext cx="11887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711135" y="3817281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 err="1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إعادة</a:t>
            </a:r>
            <a:r>
              <a:rPr lang="en-US" sz="1000" i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التحليل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65760" y="1554480"/>
            <a:ext cx="3657600" cy="3840480"/>
          </a:xfrm>
          <a:prstGeom prst="roundRect">
            <a:avLst>
              <a:gd name="adj" fmla="val 3750"/>
            </a:avLst>
          </a:prstGeom>
          <a:solidFill>
            <a:srgbClr val="1A1F4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737360"/>
            <a:ext cx="365760" cy="36576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548640" y="1691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بروتوكول A2A ثنائي الاتجاه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548640" y="2103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8B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Agent-to-Agent Protocol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3703320" y="2715768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548640" y="2606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تمرير ثنائي: بيانات، ملاحظات جودة، وطلبات توضيح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3703320" y="3218688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548640" y="3108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تسلسل زمني موثّق لكل عملية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3703320" y="3721608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548640" y="3611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قابلية التتبّع والمراجعة الكاملة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3703320" y="4224528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548640" y="4114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استقلالية كل وكيل عن الآخر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3703320" y="4727448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548640" y="46177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سهولة إضافة وكلاء جدد لاحقاً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مُنصِت · Munset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11460175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D4A6D18-8565-1057-F2BB-AE068B8D50F7}"/>
              </a:ext>
            </a:extLst>
          </p:cNvPr>
          <p:cNvCxnSpPr>
            <a:cxnSpLocks/>
          </p:cNvCxnSpPr>
          <p:nvPr/>
        </p:nvCxnSpPr>
        <p:spPr>
          <a:xfrm flipH="1">
            <a:off x="7132320" y="6035040"/>
            <a:ext cx="2651760" cy="0"/>
          </a:xfrm>
          <a:prstGeom prst="straightConnector1">
            <a:avLst/>
          </a:prstGeom>
          <a:noFill/>
          <a:ln w="25400">
            <a:solidFill>
              <a:srgbClr val="A78BFA"/>
            </a:solidFill>
            <a:prstDash val="solid"/>
            <a:tailEnd type="triangle"/>
          </a:ln>
        </p:spPr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6B8FBA0-7141-BE99-5ABA-730AD3D9E5C2}"/>
              </a:ext>
            </a:extLst>
          </p:cNvPr>
          <p:cNvCxnSpPr>
            <a:cxnSpLocks/>
          </p:cNvCxnSpPr>
          <p:nvPr/>
        </p:nvCxnSpPr>
        <p:spPr>
          <a:xfrm flipH="1">
            <a:off x="2651760" y="5989320"/>
            <a:ext cx="1371600" cy="0"/>
          </a:xfrm>
          <a:prstGeom prst="straightConnector1">
            <a:avLst/>
          </a:prstGeom>
          <a:noFill/>
          <a:ln w="25400">
            <a:solidFill>
              <a:srgbClr val="A78BFA"/>
            </a:solidFill>
            <a:prstDash val="solid"/>
            <a:tailEnd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619695" y="3200400"/>
            <a:ext cx="7315200" cy="731520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التقنيات المستخدمة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044788" y="1554480"/>
            <a:ext cx="2743200" cy="2286000"/>
          </a:xfrm>
          <a:prstGeom prst="roundRect">
            <a:avLst>
              <a:gd name="adj" fmla="val 4800"/>
            </a:avLst>
          </a:prstGeom>
          <a:solidFill>
            <a:srgbClr val="1A1F4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36228" y="1554480"/>
            <a:ext cx="256032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748" y="17830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227668" y="2331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+ pyannote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227668" y="2743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C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تفريغ صوتي عالي الدقة يعمل عبر API أو محلياً على GPU مع تحديد المتحدثين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9227668" y="3474720"/>
            <a:ext cx="914400" cy="228600"/>
          </a:xfrm>
          <a:prstGeom prst="roundRect">
            <a:avLst>
              <a:gd name="adj" fmla="val 48000"/>
            </a:avLst>
          </a:prstGeom>
          <a:solidFill>
            <a:srgbClr val="14B8A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227668" y="34747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AI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164428" y="1554480"/>
            <a:ext cx="2743200" cy="2286000"/>
          </a:xfrm>
          <a:prstGeom prst="roundRect">
            <a:avLst>
              <a:gd name="adj" fmla="val 4800"/>
            </a:avLst>
          </a:prstGeom>
          <a:solidFill>
            <a:srgbClr val="1A1F4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255868" y="1554480"/>
            <a:ext cx="256032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0388" y="178308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347308" y="2331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347308" y="2743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C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تحليل قانوني مُهيكل، تلخيص، مراجعة جودة، ومساعد تفاعلي متعدد الأدوار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6347308" y="3474720"/>
            <a:ext cx="914400" cy="228600"/>
          </a:xfrm>
          <a:prstGeom prst="roundRect">
            <a:avLst>
              <a:gd name="adj" fmla="val 48000"/>
            </a:avLst>
          </a:prstGeom>
          <a:solidFill>
            <a:srgbClr val="7C3AE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6347308" y="34747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284068" y="1554480"/>
            <a:ext cx="2743200" cy="2286000"/>
          </a:xfrm>
          <a:prstGeom prst="roundRect">
            <a:avLst>
              <a:gd name="adj" fmla="val 4800"/>
            </a:avLst>
          </a:prstGeom>
          <a:solidFill>
            <a:srgbClr val="1A1F4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3375508" y="1554480"/>
            <a:ext cx="2560320" cy="36576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0028" y="178308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466948" y="2331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Protocol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3466948" y="2743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C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بروتوكول تواصل بين الوكلاء مع تمرير رسائل مُهيكلة وتتبّع كامل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3466948" y="3474720"/>
            <a:ext cx="914400" cy="228600"/>
          </a:xfrm>
          <a:prstGeom prst="roundRect">
            <a:avLst>
              <a:gd name="adj" fmla="val 48000"/>
            </a:avLst>
          </a:prstGeom>
          <a:solidFill>
            <a:srgbClr val="A78BF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3466948" y="34747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403708" y="1554480"/>
            <a:ext cx="2743200" cy="2286000"/>
          </a:xfrm>
          <a:prstGeom prst="roundRect">
            <a:avLst>
              <a:gd name="adj" fmla="val 4800"/>
            </a:avLst>
          </a:prstGeom>
          <a:solidFill>
            <a:srgbClr val="1A1F4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495148" y="1554480"/>
            <a:ext cx="256032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69668" y="1783080"/>
            <a:ext cx="502920" cy="5029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86588" y="2331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586588" y="2743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C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طبقة التنسيق بين الوكلاء، معالجة الملفات الصوتية، وإدارة الحالة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586588" y="3474720"/>
            <a:ext cx="914400" cy="228600"/>
          </a:xfrm>
          <a:prstGeom prst="roundRect">
            <a:avLst>
              <a:gd name="adj" fmla="val 48000"/>
            </a:avLst>
          </a:prstGeom>
          <a:solidFill>
            <a:srgbClr val="F59E0B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586588" y="34747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9044788" y="4069080"/>
            <a:ext cx="2743200" cy="2286000"/>
          </a:xfrm>
          <a:prstGeom prst="roundRect">
            <a:avLst>
              <a:gd name="adj" fmla="val 4800"/>
            </a:avLst>
          </a:prstGeom>
          <a:solidFill>
            <a:srgbClr val="1A1F4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9136228" y="4069080"/>
            <a:ext cx="256032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0748" y="4297680"/>
            <a:ext cx="502920" cy="50292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227668" y="48463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500" dirty="0"/>
          </a:p>
        </p:txBody>
      </p:sp>
      <p:sp>
        <p:nvSpPr>
          <p:cNvPr id="37" name="Text 30"/>
          <p:cNvSpPr/>
          <p:nvPr/>
        </p:nvSpPr>
        <p:spPr>
          <a:xfrm>
            <a:off x="9227668" y="52578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C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تخزين آمن سحابياً أو محلياً (On-Prem) مع تشفير كامل ونسخ احتياطية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Shape 31"/>
          <p:cNvSpPr/>
          <p:nvPr/>
        </p:nvSpPr>
        <p:spPr>
          <a:xfrm>
            <a:off x="9227668" y="5989320"/>
            <a:ext cx="914400" cy="228600"/>
          </a:xfrm>
          <a:prstGeom prst="roundRect">
            <a:avLst>
              <a:gd name="adj" fmla="val 48000"/>
            </a:avLst>
          </a:prstGeom>
          <a:solidFill>
            <a:srgbClr val="14B8A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2"/>
          <p:cNvSpPr/>
          <p:nvPr/>
        </p:nvSpPr>
        <p:spPr>
          <a:xfrm>
            <a:off x="9227668" y="5989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6164428" y="4069080"/>
            <a:ext cx="2743200" cy="2286000"/>
          </a:xfrm>
          <a:prstGeom prst="roundRect">
            <a:avLst>
              <a:gd name="adj" fmla="val 4800"/>
            </a:avLst>
          </a:prstGeom>
          <a:solidFill>
            <a:srgbClr val="1A1F4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4"/>
          <p:cNvSpPr/>
          <p:nvPr/>
        </p:nvSpPr>
        <p:spPr>
          <a:xfrm>
            <a:off x="6255868" y="4069080"/>
            <a:ext cx="2560320" cy="36576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0388" y="4297680"/>
            <a:ext cx="502920" cy="50292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6347308" y="48463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TailwindCSS</a:t>
            </a:r>
            <a:endParaRPr lang="en-US" sz="1500" dirty="0"/>
          </a:p>
        </p:txBody>
      </p:sp>
      <p:sp>
        <p:nvSpPr>
          <p:cNvPr id="44" name="Text 36"/>
          <p:cNvSpPr/>
          <p:nvPr/>
        </p:nvSpPr>
        <p:spPr>
          <a:xfrm>
            <a:off x="6347308" y="52578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C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واجهة تفاعلية مع دعم RTL عربي كامل، عرض فوري لمخرجات الوكلاء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Shape 37"/>
          <p:cNvSpPr/>
          <p:nvPr/>
        </p:nvSpPr>
        <p:spPr>
          <a:xfrm>
            <a:off x="6347308" y="5989320"/>
            <a:ext cx="914400" cy="228600"/>
          </a:xfrm>
          <a:prstGeom prst="roundRect">
            <a:avLst>
              <a:gd name="adj" fmla="val 48000"/>
            </a:avLst>
          </a:prstGeom>
          <a:solidFill>
            <a:srgbClr val="A78BF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38"/>
          <p:cNvSpPr/>
          <p:nvPr/>
        </p:nvSpPr>
        <p:spPr>
          <a:xfrm>
            <a:off x="6347308" y="5989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47" name="Shape 39"/>
          <p:cNvSpPr/>
          <p:nvPr/>
        </p:nvSpPr>
        <p:spPr>
          <a:xfrm>
            <a:off x="3284068" y="4069080"/>
            <a:ext cx="2743200" cy="2286000"/>
          </a:xfrm>
          <a:prstGeom prst="roundRect">
            <a:avLst>
              <a:gd name="adj" fmla="val 4800"/>
            </a:avLst>
          </a:prstGeom>
          <a:solidFill>
            <a:srgbClr val="1A1F4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0"/>
          <p:cNvSpPr/>
          <p:nvPr/>
        </p:nvSpPr>
        <p:spPr>
          <a:xfrm>
            <a:off x="3375508" y="4069080"/>
            <a:ext cx="256032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0028" y="4297680"/>
            <a:ext cx="502920" cy="502920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3466948" y="48463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RBAC</a:t>
            </a:r>
            <a:endParaRPr lang="en-US" sz="1500" dirty="0"/>
          </a:p>
        </p:txBody>
      </p:sp>
      <p:sp>
        <p:nvSpPr>
          <p:cNvPr id="51" name="Text 42"/>
          <p:cNvSpPr/>
          <p:nvPr/>
        </p:nvSpPr>
        <p:spPr>
          <a:xfrm>
            <a:off x="3466948" y="52578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C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مصادقة وصلاحيات دقيقة حسب دور المستخدم (قاضي، محامي، إدارة)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Shape 43"/>
          <p:cNvSpPr/>
          <p:nvPr/>
        </p:nvSpPr>
        <p:spPr>
          <a:xfrm>
            <a:off x="3466948" y="5989320"/>
            <a:ext cx="914400" cy="228600"/>
          </a:xfrm>
          <a:prstGeom prst="roundRect">
            <a:avLst>
              <a:gd name="adj" fmla="val 48000"/>
            </a:avLst>
          </a:prstGeom>
          <a:solidFill>
            <a:srgbClr val="7C3AE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44"/>
          <p:cNvSpPr/>
          <p:nvPr/>
        </p:nvSpPr>
        <p:spPr>
          <a:xfrm>
            <a:off x="3466948" y="5989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</p:txBody>
      </p:sp>
      <p:sp>
        <p:nvSpPr>
          <p:cNvPr id="54" name="Shape 45"/>
          <p:cNvSpPr/>
          <p:nvPr/>
        </p:nvSpPr>
        <p:spPr>
          <a:xfrm>
            <a:off x="403708" y="4069080"/>
            <a:ext cx="2743200" cy="2286000"/>
          </a:xfrm>
          <a:prstGeom prst="roundRect">
            <a:avLst>
              <a:gd name="adj" fmla="val 4800"/>
            </a:avLst>
          </a:prstGeom>
          <a:solidFill>
            <a:srgbClr val="1A1F4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46"/>
          <p:cNvSpPr/>
          <p:nvPr/>
        </p:nvSpPr>
        <p:spPr>
          <a:xfrm>
            <a:off x="495148" y="4069080"/>
            <a:ext cx="256032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69668" y="4297680"/>
            <a:ext cx="502920" cy="502920"/>
          </a:xfrm>
          <a:prstGeom prst="rect">
            <a:avLst/>
          </a:prstGeom>
        </p:spPr>
      </p:pic>
      <p:sp>
        <p:nvSpPr>
          <p:cNvPr id="57" name="Text 47"/>
          <p:cNvSpPr/>
          <p:nvPr/>
        </p:nvSpPr>
        <p:spPr>
          <a:xfrm>
            <a:off x="586588" y="48463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Vector DB</a:t>
            </a:r>
            <a:endParaRPr lang="en-US" sz="1500" dirty="0"/>
          </a:p>
        </p:txBody>
      </p:sp>
      <p:sp>
        <p:nvSpPr>
          <p:cNvPr id="58" name="Text 48"/>
          <p:cNvSpPr/>
          <p:nvPr/>
        </p:nvSpPr>
        <p:spPr>
          <a:xfrm>
            <a:off x="586588" y="52578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C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تخزين المحاضر والبحث الدلالي في الأرشيف عبر embeddings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Shape 49"/>
          <p:cNvSpPr/>
          <p:nvPr/>
        </p:nvSpPr>
        <p:spPr>
          <a:xfrm>
            <a:off x="586588" y="5989320"/>
            <a:ext cx="914400" cy="228600"/>
          </a:xfrm>
          <a:prstGeom prst="roundRect">
            <a:avLst>
              <a:gd name="adj" fmla="val 48000"/>
            </a:avLst>
          </a:prstGeom>
          <a:solidFill>
            <a:srgbClr val="F59E0B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0"/>
          <p:cNvSpPr/>
          <p:nvPr/>
        </p:nvSpPr>
        <p:spPr>
          <a:xfrm>
            <a:off x="586588" y="5989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61" name="Text 51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مُنصِت · Munset</a:t>
            </a:r>
            <a:endParaRPr lang="en-US" sz="900" dirty="0"/>
          </a:p>
        </p:txBody>
      </p:sp>
      <p:sp>
        <p:nvSpPr>
          <p:cNvPr id="62" name="Text 52"/>
          <p:cNvSpPr/>
          <p:nvPr/>
        </p:nvSpPr>
        <p:spPr>
          <a:xfrm>
            <a:off x="11460175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802575" y="3191256"/>
            <a:ext cx="7315200" cy="731520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تجربة</a:t>
            </a: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المستخدم</a:t>
            </a:r>
            <a:endParaRPr lang="en-US" sz="3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Image 0" descr="/home/claude/munset_deck/assets/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3040"/>
            <a:ext cx="5303520" cy="48463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144000" y="1499616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9144000" y="14996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94360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رفع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تسجيل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الجلسة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9144000" y="1847088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9144000" y="18470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943600" y="18105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تفريغ صوتي فوري مع تحديد </a:t>
            </a:r>
            <a:r>
              <a:rPr lang="en-US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المتحدثين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وتقسيم</a:t>
            </a:r>
            <a:r>
              <a:rPr lang="ur-IN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الحوار</a:t>
            </a:r>
            <a:r>
              <a:rPr lang="ur-IN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زمنياً</a:t>
            </a:r>
            <a:endParaRPr lang="en-US" sz="11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9144000" y="2194560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914400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760720" y="215798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استخراج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تحليل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قانوني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مُهيكل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ar-EG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:نوع القضية ،</a:t>
            </a:r>
            <a:r>
              <a:rPr lang="en-US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الأطراف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والدفوع</a:t>
            </a:r>
            <a:r>
              <a:rPr lang="ar-EG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وغيرها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9144000" y="2542032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9144000" y="25420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943600" y="250545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ar-EG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عرض </a:t>
            </a:r>
            <a:r>
              <a:rPr lang="en-US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محضر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وملخص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تنفيذي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ar-EG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للجلسة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9144000" y="2889504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9144000" y="28895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943600" y="3200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سؤال المساعد التفاعلي عن أي تفصيل داخل الجلسة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9144000" y="3236976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9144000" y="323697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9144000" y="35844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00">
                <a:solidFill>
                  <a:srgbClr val="FFFFFF"/>
                </a:solidFill>
                <a:latin typeface="Calibri"/>
              </a:rPr>
              <a:t/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5943600" y="3931920"/>
            <a:ext cx="3108960" cy="2468880"/>
          </a:xfrm>
          <a:prstGeom prst="roundRect">
            <a:avLst>
              <a:gd name="adj" fmla="val 4444"/>
            </a:avLst>
          </a:prstGeom>
          <a:solidFill>
            <a:srgbClr val="1A1F4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6096000" y="415314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الفائدة للمستخدم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5943600" y="406908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-171450" algn="r" rt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3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171450" algn="r" rt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ar-SA" alt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تقليل الوقت والجهد في إعداد محاضر الجلسات</a:t>
            </a:r>
            <a:r>
              <a:rPr lang="en-US" alt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indent="-171450" algn="r" rt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ar-SA" alt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أرشفة ذكية تدعم البحث الدلالي السريع</a:t>
            </a:r>
            <a:r>
              <a:rPr lang="en-US" alt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0" algn="r" rt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ar-EG" alt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ar-SA" alt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دقة أعلى في توثيق الوقائع والطلبات القانونية</a:t>
            </a:r>
            <a:r>
              <a:rPr lang="en-US" alt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31" name="Text 27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مُنصِت · Munset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1460175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3926B92C-4FF2-CB3A-3A14-D00707121779}"/>
              </a:ext>
            </a:extLst>
          </p:cNvPr>
          <p:cNvSpPr/>
          <p:nvPr/>
        </p:nvSpPr>
        <p:spPr>
          <a:xfrm>
            <a:off x="5943600" y="285292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ar-EG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مراجعة</a:t>
            </a:r>
            <a:r>
              <a:rPr lang="ur-IN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تقرير</a:t>
            </a:r>
            <a:r>
              <a:rPr lang="ur-IN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الجودة</a:t>
            </a:r>
            <a:r>
              <a:rPr lang="ur-IN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ar-EG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ل</a:t>
            </a:r>
            <a:r>
              <a:rPr lang="ur-IN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تقييم</a:t>
            </a:r>
            <a:r>
              <a:rPr lang="ur-IN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جودة</a:t>
            </a:r>
            <a:r>
              <a:rPr lang="ur-IN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المخرجات</a:t>
            </a:r>
            <a:r>
              <a:rPr lang="ur-IN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ودقتها</a:t>
            </a:r>
            <a:r>
              <a:rPr lang="ur-IN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1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4"/>
          <p:cNvSpPr/>
          <p:nvPr/>
        </p:nvSpPr>
        <p:spPr>
          <a:xfrm>
            <a:off x="9250528" y="1051560"/>
            <a:ext cx="1920240" cy="1920240"/>
          </a:xfrm>
          <a:prstGeom prst="ellipse">
            <a:avLst/>
          </a:prstGeom>
          <a:solidFill>
            <a:srgbClr val="7C3AED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18">
            <a:extLst>
              <a:ext uri="{FF2B5EF4-FFF2-40B4-BE49-F238E27FC236}">
                <a16:creationId xmlns:a16="http://schemas.microsoft.com/office/drawing/2014/main" id="{ED9550F0-6555-4BFB-83F2-2E83AE740FB1}"/>
              </a:ext>
            </a:extLst>
          </p:cNvPr>
          <p:cNvSpPr/>
          <p:nvPr/>
        </p:nvSpPr>
        <p:spPr>
          <a:xfrm>
            <a:off x="9341968" y="1143000"/>
            <a:ext cx="1737360" cy="1737360"/>
          </a:xfrm>
          <a:prstGeom prst="ellipse">
            <a:avLst/>
          </a:prstGeom>
          <a:solidFill>
            <a:srgbClr val="A78BFA">
              <a:alpha val="45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" name="Shape 0"/>
          <p:cNvSpPr/>
          <p:nvPr/>
        </p:nvSpPr>
        <p:spPr>
          <a:xfrm>
            <a:off x="-2728112" y="-2743200"/>
            <a:ext cx="7315200" cy="7315200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619695" y="3200400"/>
            <a:ext cx="7315200" cy="731520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القيمة المضافة</a:t>
            </a:r>
            <a:endParaRPr lang="en-US" sz="3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267048" y="2011680"/>
            <a:ext cx="3657600" cy="36576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404208" y="2148840"/>
            <a:ext cx="3383280" cy="3383280"/>
          </a:xfrm>
          <a:prstGeom prst="ellipse">
            <a:avLst/>
          </a:prstGeom>
          <a:solidFill>
            <a:srgbClr val="A78BFA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24248" y="2377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41368" y="3108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قفزة نوعية في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41368" y="3566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أتمتة الجلسات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358488" y="4023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القضائية بالذكاء الاصطناعي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20928" y="1051560"/>
            <a:ext cx="1920240" cy="1920240"/>
          </a:xfrm>
          <a:prstGeom prst="ellipse">
            <a:avLst/>
          </a:prstGeom>
          <a:solidFill>
            <a:srgbClr val="7C3AED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112368" y="1143000"/>
            <a:ext cx="1737360" cy="1737360"/>
          </a:xfrm>
          <a:prstGeom prst="ellipse">
            <a:avLst/>
          </a:prstGeom>
          <a:solidFill>
            <a:srgbClr val="A78BF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20928" y="132588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من ساعتين إلى 5 دقائق في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توثيق الجلسة القضائية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020928" y="4709160"/>
            <a:ext cx="1920240" cy="1920240"/>
          </a:xfrm>
          <a:prstGeom prst="ellipse">
            <a:avLst/>
          </a:prstGeom>
          <a:solidFill>
            <a:srgbClr val="7C3AED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12368" y="4800600"/>
            <a:ext cx="1737360" cy="1737360"/>
          </a:xfrm>
          <a:prstGeom prst="ellipse">
            <a:avLst/>
          </a:prstGeom>
          <a:solidFill>
            <a:srgbClr val="A78BF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20928" y="498348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250528" y="4709160"/>
            <a:ext cx="1920240" cy="1920240"/>
          </a:xfrm>
          <a:prstGeom prst="ellipse">
            <a:avLst/>
          </a:prstGeom>
          <a:solidFill>
            <a:srgbClr val="7C3AED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341968" y="4800600"/>
            <a:ext cx="1737360" cy="1737360"/>
          </a:xfrm>
          <a:prstGeom prst="ellipse">
            <a:avLst/>
          </a:prstGeom>
          <a:solidFill>
            <a:srgbClr val="A78BF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مُنصِت · Munset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60175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9" name="Rectangle 3">
            <a:extLst>
              <a:ext uri="{FF2B5EF4-FFF2-40B4-BE49-F238E27FC236}">
                <a16:creationId xmlns:a16="http://schemas.microsoft.com/office/drawing/2014/main" id="{4F5E78BA-CD0D-45F8-23C7-AD88CA56143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229341" y="5166360"/>
            <a:ext cx="1523954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ar-SA" alt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توفير +90% من وقت التوثيق وتقليل الأخطاء البشرية في المحاضر</a:t>
            </a:r>
            <a:r>
              <a:rPr lang="en-US" alt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Rectangle 4">
            <a:extLst>
              <a:ext uri="{FF2B5EF4-FFF2-40B4-BE49-F238E27FC236}">
                <a16:creationId xmlns:a16="http://schemas.microsoft.com/office/drawing/2014/main" id="{D96EC8E7-F743-0595-1EF4-9C8CF29915E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341968" y="1325880"/>
            <a:ext cx="173736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ar-SA" alt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بحث دلالي فوري في آلاف المحاضر خلال ثوانٍ بدل ساعات التنقيب اليدوي</a:t>
            </a:r>
            <a:r>
              <a:rPr lang="en-US" alt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Rectangle 5">
            <a:extLst>
              <a:ext uri="{FF2B5EF4-FFF2-40B4-BE49-F238E27FC236}">
                <a16:creationId xmlns:a16="http://schemas.microsoft.com/office/drawing/2014/main" id="{69188E8C-B6BB-9C8D-A0C0-B5929D2EF8B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308880" y="4946005"/>
            <a:ext cx="1803536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ar-SA" alt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يعمل سحابياً أو محلياً (On-Prem GPU) — دعماً للتحول الرقمي العدلي ورؤية 2030</a:t>
            </a:r>
            <a:r>
              <a:rPr lang="en-US" alt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619695" y="3200400"/>
            <a:ext cx="7315200" cy="731520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الخطوات القادمة وخارطة الطريق</a:t>
            </a:r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644488" y="1463040"/>
            <a:ext cx="3566160" cy="4754880"/>
          </a:xfrm>
          <a:prstGeom prst="roundRect">
            <a:avLst>
              <a:gd name="adj" fmla="val 3846"/>
            </a:avLst>
          </a:prstGeom>
          <a:solidFill>
            <a:srgbClr val="1A1F4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010248" y="1737360"/>
            <a:ext cx="2834640" cy="64008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10248" y="17373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المرحلة الحالية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964528" y="2834640"/>
            <a:ext cx="30632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r" rtl="1">
              <a:spcAft>
                <a:spcPts val="800"/>
              </a:spcAft>
              <a:buSzPct val="100000"/>
              <a:buChar char="●"/>
            </a:pPr>
            <a:r>
              <a:rPr lang="ar-EG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نظام وكلاء متعدد مكتمل بخمسة وكلاء متخصصين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بروتوكول A2A ثنائي الاتجاه يعمل بالكامل</a:t>
            </a: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تفريغ صوتي بالعربية مع تحديد المتحدثين</a:t>
            </a: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تحليل قانوني آلي وإعداد محاضر مُهيكلة</a:t>
            </a: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مساعد تفاعلي ذكي للاستفسارات</a:t>
            </a: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واجهة مستخدم تفاعلية مع وضع تجريبي</a:t>
            </a:r>
          </a:p>
        </p:txBody>
      </p:sp>
      <p:sp>
        <p:nvSpPr>
          <p:cNvPr id="15" name="Shape 13"/>
          <p:cNvSpPr/>
          <p:nvPr/>
        </p:nvSpPr>
        <p:spPr>
          <a:xfrm>
            <a:off x="2026539" y="1463040"/>
            <a:ext cx="3566160" cy="4754880"/>
          </a:xfrm>
          <a:prstGeom prst="roundRect">
            <a:avLst>
              <a:gd name="adj" fmla="val 3846"/>
            </a:avLst>
          </a:prstGeom>
          <a:solidFill>
            <a:srgbClr val="1A1F4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392299" y="1737360"/>
            <a:ext cx="2834640" cy="640080"/>
          </a:xfrm>
          <a:prstGeom prst="roundRect">
            <a:avLst>
              <a:gd name="adj" fmla="val 50000"/>
            </a:avLst>
          </a:prstGeom>
          <a:solidFill>
            <a:srgbClr val="4C1D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392299" y="17373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الرؤية المستقبلية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346579" y="2834640"/>
            <a:ext cx="30632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r" rtl="1">
              <a:spcAft>
                <a:spcPts val="800"/>
              </a:spcAft>
              <a:buSzPct val="100000"/>
              <a:buChar char="●"/>
            </a:pPr>
            <a:r>
              <a:rPr sz="1200">
                <a:solidFill>
                  <a:srgbClr val="FFFFFF"/>
                </a:solidFill>
                <a:latin typeface="Calibri"/>
              </a:rPr>
              <a:t>التكامل مع أنظمة المحاكم الرسمية (ناجز)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بحث دلالي عبر آلاف المحاضر القانونية</a:t>
            </a: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كشف التناقضات عبر جلسات متعددة تلقائياً</a:t>
            </a: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دعم لغات ولهجات إضافية</a:t>
            </a: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التوسع لقطاعات التحكيم والشركات</a:t>
            </a: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دعم رؤية المملكة 2030 في التحول الرقمي العدلي</a:t>
            </a:r>
          </a:p>
        </p:txBody>
      </p:sp>
      <p:sp>
        <p:nvSpPr>
          <p:cNvPr id="20" name="Text 18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مُنصِت · Munset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60175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619695" y="3200400"/>
            <a:ext cx="7315200" cy="731520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الفريق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764628" y="1600200"/>
            <a:ext cx="2651760" cy="4572000"/>
          </a:xfrm>
          <a:prstGeom prst="roundRect">
            <a:avLst>
              <a:gd name="adj" fmla="val 6897"/>
            </a:avLst>
          </a:prstGeom>
          <a:solidFill>
            <a:srgbClr val="7C3AED">
              <a:alpha val="40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901788" y="1737360"/>
            <a:ext cx="2377440" cy="4297680"/>
          </a:xfrm>
          <a:prstGeom prst="roundRect">
            <a:avLst>
              <a:gd name="adj" fmla="val 5769"/>
            </a:avLst>
          </a:prstGeom>
          <a:solidFill>
            <a:srgbClr val="1A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496148" y="2011680"/>
            <a:ext cx="1188720" cy="118872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96148" y="20116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947508" y="3383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EG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روان الرملاوي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22296" y="3642360"/>
            <a:ext cx="24688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 algn="r" rt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ar-SA" alt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قيادة الفريق والإشراف على التنفيذ</a:t>
            </a:r>
            <a:r>
              <a:rPr lang="en-US" alt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lvl="0" indent="-285750" algn="r" rt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ar-SA" alt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تطوير فكرة المشروع</a:t>
            </a:r>
            <a:r>
              <a:rPr lang="en-US" alt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lvl="0" indent="-285750" algn="r" rt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ar-SA" alt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تصميم العرض</a:t>
            </a:r>
            <a:r>
              <a:rPr lang="en-US" altLang="en-US" sz="1200" dirty="0">
                <a:latin typeface="Arial" panose="020B0604020202020204" pitchFamily="34" charset="0"/>
              </a:rPr>
              <a:t> </a:t>
            </a:r>
            <a:r>
              <a:rPr lang="ar-EG" alt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التقديمي</a:t>
            </a:r>
            <a:endParaRPr lang="en-US" altLang="en-US" sz="12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84268" y="1600200"/>
            <a:ext cx="2651760" cy="4572000"/>
          </a:xfrm>
          <a:prstGeom prst="roundRect">
            <a:avLst>
              <a:gd name="adj" fmla="val 6897"/>
            </a:avLst>
          </a:prstGeom>
          <a:solidFill>
            <a:srgbClr val="7C3AED">
              <a:alpha val="40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21428" y="1737360"/>
            <a:ext cx="2377440" cy="4297680"/>
          </a:xfrm>
          <a:prstGeom prst="roundRect">
            <a:avLst>
              <a:gd name="adj" fmla="val 5769"/>
            </a:avLst>
          </a:prstGeom>
          <a:solidFill>
            <a:srgbClr val="1A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615788" y="2011680"/>
            <a:ext cx="1188720" cy="118872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15788" y="20116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5067148" y="3383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EG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سمر الرملاوي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090160" y="3623734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r" rt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285750" algn="r" rt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ar-SA" alt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التنسيق مع خبراء قانونيين</a:t>
            </a:r>
            <a:r>
              <a:rPr lang="en-US" alt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indent="-285750" algn="r" rt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ar-SA" alt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تطوير وتنظيم فكرة المشروع</a:t>
            </a:r>
            <a:r>
              <a:rPr lang="en-US" alt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indent="-285750" algn="r" rt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ar-SA" alt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إعداد العرض التقديمي</a:t>
            </a:r>
            <a:r>
              <a:rPr lang="en-US" alt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9" name="Shape 17"/>
          <p:cNvSpPr/>
          <p:nvPr/>
        </p:nvSpPr>
        <p:spPr>
          <a:xfrm>
            <a:off x="2003908" y="1600200"/>
            <a:ext cx="2651760" cy="4572000"/>
          </a:xfrm>
          <a:prstGeom prst="roundRect">
            <a:avLst>
              <a:gd name="adj" fmla="val 6897"/>
            </a:avLst>
          </a:prstGeom>
          <a:solidFill>
            <a:srgbClr val="7C3AED">
              <a:alpha val="40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141068" y="1737360"/>
            <a:ext cx="2377440" cy="4297680"/>
          </a:xfrm>
          <a:prstGeom prst="roundRect">
            <a:avLst>
              <a:gd name="adj" fmla="val 5769"/>
            </a:avLst>
          </a:prstGeom>
          <a:solidFill>
            <a:srgbClr val="1A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35428" y="2011680"/>
            <a:ext cx="1188720" cy="118872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35428" y="20116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2186788" y="3383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EG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شروق فهيد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199336" y="406908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 algn="r" rtl="1">
              <a:lnSpc>
                <a:spcPct val="15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تطوير واجهة </a:t>
            </a:r>
            <a:r>
              <a:rPr lang="en-US" sz="12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المستخدم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RTL</a:t>
            </a:r>
          </a:p>
          <a:p>
            <a:pPr marL="171450" indent="-171450" algn="r" rtl="1">
              <a:lnSpc>
                <a:spcPct val="15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تصميم الهوية </a:t>
            </a:r>
            <a:r>
              <a:rPr lang="en-US" sz="12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البصرية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والشعار</a:t>
            </a:r>
            <a:endParaRPr lang="en-US" sz="12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r" rtl="1">
              <a:lnSpc>
                <a:spcPct val="15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ربط الواجهة </a:t>
            </a:r>
            <a:r>
              <a:rPr lang="en-US" sz="12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بطبقة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الوكلاء</a:t>
            </a:r>
            <a:endParaRPr lang="en-US" sz="12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مُنصِت · Munset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60175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6" name="Rectangle 2">
            <a:extLst>
              <a:ext uri="{FF2B5EF4-FFF2-40B4-BE49-F238E27FC236}">
                <a16:creationId xmlns:a16="http://schemas.microsoft.com/office/drawing/2014/main" id="{3CCC7E53-342F-2945-D912-0FA16671C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914400"/>
            <a:ext cx="10728655" cy="5029200"/>
          </a:xfrm>
          <a:prstGeom prst="roundRect">
            <a:avLst>
              <a:gd name="adj" fmla="val 4545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0728655" cy="5029200"/>
          </a:xfrm>
          <a:prstGeom prst="roundRect">
            <a:avLst>
              <a:gd name="adj" fmla="val 4545"/>
            </a:avLst>
          </a:prstGeom>
          <a:solidFill>
            <a:srgbClr val="A78BFA">
              <a:alpha val="5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728655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شكراً لكم</a:t>
            </a:r>
            <a:endParaRPr lang="en-US" sz="9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مُنصِت</a:t>
            </a:r>
            <a:r>
              <a:rPr lang="ar-EG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US" sz="18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منظومة</a:t>
            </a: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وكلاء ذكية لتوثيق الجلسات القضائية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48463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kern="0" spc="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Agenticthon 2026 · Multi-Agent Systems · A2A Protocol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</TotalTime>
  <Words>698</Words>
  <Application>Microsoft Office PowerPoint</Application>
  <PresentationFormat>Widescreen</PresentationFormat>
  <Paragraphs>179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Tajawal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مُنصِت — منظومة وكلاء ذكية لتوثيق وتحليل الجلسات القضائية</dc:title>
  <dc:subject>PptxGenJS Presentation</dc:subject>
  <dc:creator>Munset Team</dc:creator>
  <cp:lastModifiedBy>سمر خالد عبدالكريم الرملاوي</cp:lastModifiedBy>
  <cp:revision>5</cp:revision>
  <dcterms:created xsi:type="dcterms:W3CDTF">2026-04-18T13:32:38Z</dcterms:created>
  <dcterms:modified xsi:type="dcterms:W3CDTF">2026-04-19T06:19:59Z</dcterms:modified>
</cp:coreProperties>
</file>