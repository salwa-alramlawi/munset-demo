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7" d="100"/>
          <a:sy n="57" d="100"/>
        </p:scale>
        <p:origin x="9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28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34095" y="2286000"/>
            <a:ext cx="9144000" cy="9144000"/>
          </a:xfrm>
          <a:prstGeom prst="ellipse">
            <a:avLst/>
          </a:prstGeom>
          <a:solidFill>
            <a:srgbClr val="4C1D9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0" y="17373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6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فريق</a:t>
            </a:r>
            <a:r>
              <a:rPr lang="en-US" sz="6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6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مُنصِت</a:t>
            </a:r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0" y="3025471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المجال : أتمتة الأعمال والمؤسسات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0" y="38404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المشروع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منظومة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وكلاء ذكية لتوثيق وتحليل الجلسات القضائية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Agenticthon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0" y="566928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0" y="5669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اكتشف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↗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0" descr="/home/claude/munset_deck/assets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5486400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· A2A Protocol · Real-time Analysis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743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C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Agenticthon 2026 · جامعة الأمير سطام بن عبدالعزيز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0" y="640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المحتوى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278728" y="219456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43336" y="233172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10648" y="235915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644488" y="235915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المشكلة والفجوة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75208" y="219456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39816" y="233172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07128" y="235915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40968" y="235915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الحل المقترح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78728" y="352044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43336" y="365760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10648" y="368503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44488" y="368503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التقنيات المستخدمة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75208" y="352044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39816" y="365760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07128" y="368503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340968" y="368503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تجربة المستخدم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78728" y="484632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143336" y="498348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10648" y="501091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644488" y="501091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القيمة المضافة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75208" y="484632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39816" y="498348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07128" y="5010912"/>
            <a:ext cx="822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340968" y="501091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الخطوات القادمة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0" y="1097280"/>
            <a:ext cx="7680960" cy="1737360"/>
          </a:xfrm>
          <a:prstGeom prst="roundRect">
            <a:avLst>
              <a:gd name="adj" fmla="val 7895"/>
            </a:avLst>
          </a:prstGeom>
          <a:solidFill>
            <a:srgbClr val="1A1F4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097280"/>
            <a:ext cx="768096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المشكلة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27855" y="1644535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endParaRPr lang="ar-EG" sz="16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توثيق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الجلسات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القضائية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بشكل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يدوي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يُعد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عملية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مُرهقة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تستنزف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وقتاً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كبيراً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كما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أنه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عُرضة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للتأخير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والأخطاء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البشرية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مما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ينعكس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سلباً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على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سرعة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الفصل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في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القضايا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ويؤثر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على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دقة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وجودة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600" i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الأرشفة</a:t>
            </a:r>
            <a:r>
              <a:rPr lang="ur-IN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r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72400" y="3040380"/>
            <a:ext cx="4023360" cy="2468880"/>
          </a:xfrm>
          <a:prstGeom prst="roundRect">
            <a:avLst>
              <a:gd name="adj" fmla="val 5556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31546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تأثيرها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955280" y="3534295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تأخّر الفصل في القضايا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ارتفاع العبء على أمناء الجلسات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فقدان تفاصيل دقيقة عند التدوين اليدوي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صعوبة البحث والاستعلام في المحاضر السابقة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114800" y="3017520"/>
            <a:ext cx="3474720" cy="2468880"/>
          </a:xfrm>
          <a:prstGeom prst="roundRect">
            <a:avLst>
              <a:gd name="adj" fmla="val 5556"/>
            </a:avLst>
          </a:prstGeom>
          <a:solidFill>
            <a:srgbClr val="131838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2461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976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الفجوة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297680" y="3749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الاعتماد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على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التفريغ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اليدوي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إلى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جانب ضعف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التكامل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بين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أنظمة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الأرشفة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والبحث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والتحليل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القانوني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يؤدي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إلى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إهدار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فرص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توظيف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الذكاء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الاصطناعي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في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أتمتة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إعداد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المحاضر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وتحسين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كفاءتها</a:t>
            </a:r>
            <a:r>
              <a:rPr lang="ur-I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B0F34F71-5F40-1B2F-9E4C-A506E7A3D9F4}"/>
              </a:ext>
            </a:extLst>
          </p:cNvPr>
          <p:cNvSpPr/>
          <p:nvPr/>
        </p:nvSpPr>
        <p:spPr>
          <a:xfrm>
            <a:off x="365760" y="30175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0" b="1" kern="0" spc="-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FB5D126-CA93-D6CC-B285-A974EC4349F2}"/>
              </a:ext>
            </a:extLst>
          </p:cNvPr>
          <p:cNvSpPr/>
          <p:nvPr/>
        </p:nvSpPr>
        <p:spPr>
          <a:xfrm>
            <a:off x="36576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4B5FD"/>
                </a:solidFill>
                <a:ea typeface="Tajawal" pitchFamily="34" charset="-122"/>
                <a:cs typeface="Tajawal" pitchFamily="34" charset="-120"/>
              </a:rPr>
              <a:t>من وقت المراجعة اليدوية</a:t>
            </a:r>
            <a:endParaRPr lang="en-US" sz="15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415CD42E-BFB9-3AD2-AA42-151B1B292ADF}"/>
              </a:ext>
            </a:extLst>
          </p:cNvPr>
          <p:cNvSpPr/>
          <p:nvPr/>
        </p:nvSpPr>
        <p:spPr>
          <a:xfrm>
            <a:off x="365760" y="4526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5C7"/>
                </a:solidFill>
                <a:ea typeface="Tajawal" pitchFamily="34" charset="-122"/>
                <a:cs typeface="Tajawal" pitchFamily="34" charset="-120"/>
              </a:rPr>
              <a:t>يمكن توفيره عبر الذكاء الاصطناعي في تفريغ وتحليل الجلسات القانونية</a:t>
            </a:r>
            <a:endParaRPr lang="en-US" sz="12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4D56B97-ADBB-FFA9-2415-8378BAA47008}"/>
              </a:ext>
            </a:extLst>
          </p:cNvPr>
          <p:cNvSpPr/>
          <p:nvPr/>
        </p:nvSpPr>
        <p:spPr>
          <a:xfrm>
            <a:off x="36576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SCIRP 2025 · Rev Legal AI Study 2025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365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0" y="365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الحل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منصة مُنصِت</a:t>
            </a:r>
            <a:endParaRPr lang="en-US" sz="5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698480" y="2103120"/>
            <a:ext cx="4572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منظومة وكلاء ذكية تُؤتمت رحلة توثيق الجلسة القضائية — من الصوت إلى محضر قانوني مُهيكل جاهز للبحث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Image 0" descr="/home/claude/munset_deck/assets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017520"/>
            <a:ext cx="3931920" cy="25603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612880" y="313639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229600" y="3218688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3816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تفريغ الصوت تلقائياً مع تحديد المتحدثين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1612880" y="362102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229600" y="3703320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38160" y="35021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طلبات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دفوع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،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أدلة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تحليل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قانوني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1612880" y="410565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229600" y="4187952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138160" y="39867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محضر جلسة 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وملخص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تنفيذي جاهز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1612880" y="4590288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229600" y="4672584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138160" y="44714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مراجعة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جودة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لكل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المخرجات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1612880" y="5074920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5157216"/>
            <a:ext cx="3200400" cy="18288"/>
          </a:xfrm>
          <a:prstGeom prst="rect">
            <a:avLst/>
          </a:prstGeom>
          <a:solidFill>
            <a:srgbClr val="2A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138160" y="4956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مساعد تفاعلي للإجابة عن أسئلة الجلسة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F1E5E230-09EB-4489-0098-617C469804FA}"/>
              </a:ext>
            </a:extLst>
          </p:cNvPr>
          <p:cNvSpPr/>
          <p:nvPr/>
        </p:nvSpPr>
        <p:spPr>
          <a:xfrm>
            <a:off x="36576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4B5F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أثر </a:t>
            </a:r>
            <a:r>
              <a:rPr lang="en-US" sz="1400" dirty="0">
                <a:solidFill>
                  <a:srgbClr val="C4B5FD"/>
                </a:solidFill>
                <a:ea typeface="Tajawal" pitchFamily="34" charset="-122"/>
                <a:cs typeface="Tajawal" pitchFamily="34" charset="-120"/>
              </a:rPr>
              <a:t>موثّق</a:t>
            </a:r>
            <a:r>
              <a:rPr lang="en-US" sz="1400" dirty="0">
                <a:solidFill>
                  <a:srgbClr val="C4B5F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علمياً</a:t>
            </a:r>
            <a:endParaRPr lang="en-US" sz="14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B044A5AF-1753-4104-A5AD-CF8D5432A6D1}"/>
              </a:ext>
            </a:extLst>
          </p:cNvPr>
          <p:cNvSpPr/>
          <p:nvPr/>
        </p:nvSpPr>
        <p:spPr>
          <a:xfrm>
            <a:off x="36576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4B5FD"/>
                </a:solidFill>
                <a:ea typeface="Tajawal" pitchFamily="34" charset="-122"/>
                <a:cs typeface="Tajawal" pitchFamily="34" charset="-120"/>
              </a:rPr>
              <a:t>لاستخدام</a:t>
            </a:r>
            <a:r>
              <a:rPr lang="en-US" sz="1400" dirty="0">
                <a:solidFill>
                  <a:srgbClr val="C4B5FD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الذكاء الاصطناعي:</a:t>
            </a:r>
            <a:endParaRPr lang="en-US" sz="140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B9A6CBD2-7CCA-70D5-104E-A5695722D598}"/>
              </a:ext>
            </a:extLst>
          </p:cNvPr>
          <p:cNvSpPr/>
          <p:nvPr/>
        </p:nvSpPr>
        <p:spPr>
          <a:xfrm>
            <a:off x="365760" y="384048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131838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34EB380-EF55-B114-E056-8DF872780A99}"/>
              </a:ext>
            </a:extLst>
          </p:cNvPr>
          <p:cNvSpPr/>
          <p:nvPr/>
        </p:nvSpPr>
        <p:spPr>
          <a:xfrm>
            <a:off x="365760" y="3886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56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770B1629-31FF-86F7-71A1-89C51434A891}"/>
              </a:ext>
            </a:extLst>
          </p:cNvPr>
          <p:cNvSpPr/>
          <p:nvPr/>
        </p:nvSpPr>
        <p:spPr>
          <a:xfrm>
            <a:off x="45720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 المحامين: الذكاء الاصطناعي يوفّر 6–10 ساعات أسبوعياً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53567CAB-4DB1-151C-6CD7-4D17F2DB7E11}"/>
              </a:ext>
            </a:extLst>
          </p:cNvPr>
          <p:cNvSpPr/>
          <p:nvPr/>
        </p:nvSpPr>
        <p:spPr>
          <a:xfrm>
            <a:off x="365760" y="521208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131838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95CF5E7E-8823-AB81-5103-DC6B16C8F2EA}"/>
              </a:ext>
            </a:extLst>
          </p:cNvPr>
          <p:cNvSpPr/>
          <p:nvPr/>
        </p:nvSpPr>
        <p:spPr>
          <a:xfrm>
            <a:off x="365760" y="5257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56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282E13DB-83F9-B069-253A-4364EA8154B5}"/>
              </a:ext>
            </a:extLst>
          </p:cNvPr>
          <p:cNvSpPr/>
          <p:nvPr/>
        </p:nvSpPr>
        <p:spPr>
          <a:xfrm>
            <a:off x="457200" y="5943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دقة تفريغ Whisper على الصوت العربي الواضح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75608" y="537633"/>
            <a:ext cx="3840480" cy="7315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75608" y="514773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(A2A) </a:t>
            </a:r>
            <a:r>
              <a:rPr lang="en-US" sz="2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هيكلة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تدفق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الوكلاء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332720" y="15544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بداية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0" y="228600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E0E0E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0" y="2286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رفع التسجيل الصوتي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0" y="2788920"/>
            <a:ext cx="0" cy="15544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875520" y="2944368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0" y="29443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(Whisper +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pyannote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وكيل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التفريغ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972800" y="3447288"/>
            <a:ext cx="0" cy="15544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75520" y="3602736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48495" y="3602736"/>
            <a:ext cx="26215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Claudeوكيل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التحليل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القانوني</a:t>
            </a:r>
            <a:r>
              <a:rPr lang="ar-EG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972800" y="4105656"/>
            <a:ext cx="0" cy="15544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75520" y="4261104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EDE4F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0" y="426110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وكيل التلخيص + محضر الجلسة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972800" y="4764024"/>
            <a:ext cx="0" cy="15544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75520" y="4919472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75520" y="49194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وكيل المراجعة وتقرير الجودة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84080" y="5623560"/>
            <a:ext cx="2377440" cy="777240"/>
          </a:xfrm>
          <a:prstGeom prst="diamond">
            <a:avLst/>
          </a:prstGeom>
          <a:solidFill>
            <a:srgbClr val="FBCFE8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84080" y="5623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جودة</a:t>
            </a:r>
            <a:r>
              <a:rPr lang="en-US" sz="11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مقبولة</a:t>
            </a:r>
            <a:r>
              <a:rPr lang="en-US" sz="11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؟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14800" y="576072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0" y="5760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محضر جاهز + مساعد تفاعلي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71600" y="576072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0" y="5760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نهاية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0" y="5989320"/>
            <a:ext cx="10972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686800" y="4114800"/>
            <a:ext cx="0" cy="18745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686800" y="4114800"/>
            <a:ext cx="1188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11135" y="381728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إعادة</a:t>
            </a:r>
            <a:r>
              <a:rPr lang="en-US" sz="100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التحليل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" y="155448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37360"/>
            <a:ext cx="365760" cy="36576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4864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بروتوكول A2A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4864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Protocol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703320" y="271576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4864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تمرير الرسائل بين الوكلاء بصيغة مُهيكلة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703320" y="321868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4864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تسلسل زمني موثّق لكل عملية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703320" y="372160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4864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قابلية التتبّع والمراجعة الكاملة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703320" y="422452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4864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استقلالية كل وكيل عن الآخر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3703320" y="472744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48640" y="4617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سهولة إضافة وكلاء جدد لاحقاً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4A6D18-8565-1057-F2BB-AE068B8D50F7}"/>
              </a:ext>
            </a:extLst>
          </p:cNvPr>
          <p:cNvCxnSpPr>
            <a:cxnSpLocks/>
          </p:cNvCxnSpPr>
          <p:nvPr/>
        </p:nvCxnSpPr>
        <p:spPr>
          <a:xfrm flipH="1">
            <a:off x="7132320" y="6035040"/>
            <a:ext cx="2651760" cy="0"/>
          </a:xfrm>
          <a:prstGeom prst="straightConnector1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6B8FBA0-7141-BE99-5ABA-730AD3D9E5C2}"/>
              </a:ext>
            </a:extLst>
          </p:cNvPr>
          <p:cNvCxnSpPr>
            <a:cxnSpLocks/>
          </p:cNvCxnSpPr>
          <p:nvPr/>
        </p:nvCxnSpPr>
        <p:spPr>
          <a:xfrm flipH="1">
            <a:off x="2651760" y="5989320"/>
            <a:ext cx="1371600" cy="0"/>
          </a:xfrm>
          <a:prstGeom prst="straightConnector1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التقنيات المستخدمة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044788" y="15544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36228" y="1554480"/>
            <a:ext cx="25603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748" y="1783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2766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+ pyannote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227668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تفريغ صوتي عالي الدقة مع تحديد المتحدثين وتقسيم النص بحسب الوقت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227668" y="34747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14B8A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2766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64428" y="15544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55868" y="155448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7830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4730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47308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تحليل قانوني مُهيكل، تلخيص، مراجعة جودة، ومساعد تفاعلي متعدد الأدوار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347308" y="34747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34730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84068" y="15544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75508" y="1554480"/>
            <a:ext cx="256032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028" y="17830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6694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466948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بروتوكول تواصل بين الوكلاء مع تمرير رسائل مُهيكلة وتتبّع كامل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3466948" y="34747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46694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03708" y="15544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95148" y="155448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9668" y="17830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8658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86588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طبقة التنسيق بين الوكلاء، معالجة الملفات الصوتية، وإدارة الحالة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86588" y="34747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8658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9044788" y="40690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9136228" y="4069080"/>
            <a:ext cx="256032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748" y="429768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227668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227668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تخزين آمن للتسجيلات والمخرجات مع نسخ احتياطية وتشفير كامل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9227668" y="5989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14B8A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9227668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164428" y="40690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255868" y="4069080"/>
            <a:ext cx="256032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0388" y="4297680"/>
            <a:ext cx="502920" cy="5029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347308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TailwindCSS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6347308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واجهة تفاعلية مع دعم RTL عربي كامل، عرض فوري لمخرجات الوكلاء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6347308" y="5989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6347308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3284068" y="40690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3375508" y="406908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0028" y="4297680"/>
            <a:ext cx="502920" cy="50292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3466948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500" dirty="0"/>
          </a:p>
        </p:txBody>
      </p:sp>
      <p:sp>
        <p:nvSpPr>
          <p:cNvPr id="51" name="Text 42"/>
          <p:cNvSpPr/>
          <p:nvPr/>
        </p:nvSpPr>
        <p:spPr>
          <a:xfrm>
            <a:off x="3466948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مصادقة وصلاحيات دقيقة حسب دور المستخدم (قاضي، محامي، إدارة)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43"/>
          <p:cNvSpPr/>
          <p:nvPr/>
        </p:nvSpPr>
        <p:spPr>
          <a:xfrm>
            <a:off x="3466948" y="5989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4"/>
          <p:cNvSpPr/>
          <p:nvPr/>
        </p:nvSpPr>
        <p:spPr>
          <a:xfrm>
            <a:off x="3466948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403708" y="406908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495148" y="406908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9668" y="4297680"/>
            <a:ext cx="502920" cy="50292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86588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Vector DB</a:t>
            </a:r>
            <a:endParaRPr lang="en-US" sz="1500" dirty="0"/>
          </a:p>
        </p:txBody>
      </p:sp>
      <p:sp>
        <p:nvSpPr>
          <p:cNvPr id="58" name="Text 48"/>
          <p:cNvSpPr/>
          <p:nvPr/>
        </p:nvSpPr>
        <p:spPr>
          <a:xfrm>
            <a:off x="586588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تخزين المحاضر والبحث الدلالي في الأرشيف عبر embeddings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586588" y="5989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0"/>
          <p:cNvSpPr/>
          <p:nvPr/>
        </p:nvSpPr>
        <p:spPr>
          <a:xfrm>
            <a:off x="586588" y="5989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02575" y="3191256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تجربة</a:t>
            </a: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المستخدم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 0" descr="/home/claude/munset_deck/assets/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5303520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0" y="149961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144000" y="1499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436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رفع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تسجيل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الجلسة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9144000" y="1847088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0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4360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تفريغ صوتي فوري مع تحديد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المتحدثين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وتقسيم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الحوار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زمنياً</a:t>
            </a:r>
            <a:endParaRPr lang="en-US" sz="1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144000" y="21945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1440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60720" y="2157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استخراج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تحليل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قانوني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مُهيكل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:نوع القضية ،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الأطراف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والدفوع</a:t>
            </a: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وغيرها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144000" y="254203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14400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943600" y="25054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عرض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محضر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وملخص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تنفيذي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للجلسة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9144000" y="2889504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144000" y="28895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سؤال المساعد التفاعلي عن أي تفصيل داخل الجلسة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9144000" y="323697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9144000" y="32369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144000" y="3584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943600" y="3931920"/>
            <a:ext cx="3108960" cy="2468880"/>
          </a:xfrm>
          <a:prstGeom prst="roundRect">
            <a:avLst>
              <a:gd name="adj" fmla="val 4444"/>
            </a:avLst>
          </a:prstGeom>
          <a:solidFill>
            <a:srgbClr val="1A1F4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096000" y="415314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الفائدة للمستخدم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943600" y="40690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714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1714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تقليل الوقت والجهد في إعداد محاضر الجلسات</a:t>
            </a:r>
            <a:r>
              <a:rPr lang="en-US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indent="-1714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أرشفة ذكية تدعم البحث الدلالي السريع</a:t>
            </a:r>
            <a:r>
              <a:rPr lang="en-US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ar-SA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دقة أعلى في توثيق الوقائع والطلبات القانونية</a:t>
            </a:r>
            <a:r>
              <a:rPr lang="en-US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1" name="Text 2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3926B92C-4FF2-CB3A-3A14-D00707121779}"/>
              </a:ext>
            </a:extLst>
          </p:cNvPr>
          <p:cNvSpPr/>
          <p:nvPr/>
        </p:nvSpPr>
        <p:spPr>
          <a:xfrm>
            <a:off x="5943600" y="28529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مراجعة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تقرير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الجودة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EG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تقييم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جودة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المخرجات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r-IN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ودقتها</a:t>
            </a:r>
            <a:r>
              <a:rPr lang="ur-IN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9250528" y="1051560"/>
            <a:ext cx="1920240" cy="192024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ED9550F0-6555-4BFB-83F2-2E83AE740FB1}"/>
              </a:ext>
            </a:extLst>
          </p:cNvPr>
          <p:cNvSpPr/>
          <p:nvPr/>
        </p:nvSpPr>
        <p:spPr>
          <a:xfrm>
            <a:off x="9341968" y="1143000"/>
            <a:ext cx="1737360" cy="1737360"/>
          </a:xfrm>
          <a:prstGeom prst="ellipse">
            <a:avLst/>
          </a:prstGeom>
          <a:solidFill>
            <a:srgbClr val="A78BFA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-2728112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القيمة المضافة</a:t>
            </a:r>
            <a:endParaRPr lang="en-US" sz="3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048" y="2011680"/>
            <a:ext cx="3657600" cy="36576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04208" y="2148840"/>
            <a:ext cx="3383280" cy="3383280"/>
          </a:xfrm>
          <a:prstGeom prst="ellipse">
            <a:avLst/>
          </a:prstGeom>
          <a:solidFill>
            <a:srgbClr val="A78BF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24248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41368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قفزة نوعية في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41368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أتمتة الجلسات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58488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القضائية بالذكاء الاصطناعي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20928" y="1051560"/>
            <a:ext cx="1920240" cy="192024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2368" y="1143000"/>
            <a:ext cx="1737360" cy="1737360"/>
          </a:xfrm>
          <a:prstGeom prst="ellipse">
            <a:avLst/>
          </a:prstGeom>
          <a:solidFill>
            <a:srgbClr val="A78BF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0928" y="13258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اختصار ملموس لوقت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توثيق الجلسة القضائية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20928" y="4709160"/>
            <a:ext cx="1920240" cy="192024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2368" y="4800600"/>
            <a:ext cx="1737360" cy="1737360"/>
          </a:xfrm>
          <a:prstGeom prst="ellipse">
            <a:avLst/>
          </a:prstGeom>
          <a:solidFill>
            <a:srgbClr val="A78BF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0928" y="49834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50528" y="4709160"/>
            <a:ext cx="1920240" cy="192024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41968" y="4800600"/>
            <a:ext cx="1737360" cy="1737360"/>
          </a:xfrm>
          <a:prstGeom prst="ellipse">
            <a:avLst/>
          </a:prstGeom>
          <a:solidFill>
            <a:srgbClr val="A78BF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4F5E78BA-CD0D-45F8-23C7-AD88CA56143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29341" y="5166360"/>
            <a:ext cx="152395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SA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تقليل الاعتماد على العمل اليدوي وتقليل الأخطاء البشرية</a:t>
            </a:r>
            <a:r>
              <a:rPr lang="en-US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D96EC8E7-F743-0595-1EF4-9C8CF29915E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41968" y="1325880"/>
            <a:ext cx="17373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SA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تمكين البحث الذكي داخل آلاف المحاضر خلال ثوانٍ</a:t>
            </a:r>
            <a:r>
              <a:rPr lang="en-US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69188E8C-B6BB-9C8D-A0C0-B5929D2EF8B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08880" y="4946005"/>
            <a:ext cx="180353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SA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تسريع إجراءات التقاضي وتقليل زمن الفصل في القضايا</a:t>
            </a:r>
            <a:r>
              <a:rPr lang="en-US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الخطوات القادمة وخارطة الطريق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44488" y="146304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10248" y="1737360"/>
            <a:ext cx="2834640" cy="6400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10248" y="1737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المرحلة الحالية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64528" y="283464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lang="ar-EG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نظام وكلاء متعدد مكتمل بخمسة وكلاء متخصصين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بروتوكول A2A ثنائي الاتجاه يعمل بالكامل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تفريغ صوتي بالعربية مع تحديد المتحدثين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تحليل قانوني آلي وإعداد محاضر مُهيكلة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مساعد تفاعلي ذكي للاستفسارات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واجهة مستخدم تفاعلية مع وضع تجريبي</a:t>
            </a:r>
          </a:p>
        </p:txBody>
      </p:sp>
      <p:sp>
        <p:nvSpPr>
          <p:cNvPr id="15" name="Shape 13"/>
          <p:cNvSpPr/>
          <p:nvPr/>
        </p:nvSpPr>
        <p:spPr>
          <a:xfrm>
            <a:off x="2026539" y="146304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A1F4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92299" y="1737360"/>
            <a:ext cx="2834640" cy="640080"/>
          </a:xfrm>
          <a:prstGeom prst="roundRect">
            <a:avLst>
              <a:gd name="adj" fmla="val 50000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92299" y="1737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الرؤية المستقبلية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46579" y="283464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800"/>
              </a:spcAft>
              <a:buSzPct val="100000"/>
              <a:buChar char="●"/>
            </a:pPr>
            <a:r>
              <a:rPr sz="1200">
                <a:solidFill>
                  <a:srgbClr val="FFFFFF"/>
                </a:solidFill>
                <a:latin typeface="Calibri"/>
              </a:rPr>
              <a:t>التكامل مع أنظمة المحاكم الرسمية (ناجز)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بحث دلالي عبر آلاف المحاضر القانونية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كشف التناقضات عبر جلسات متعددة تلقائياً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دعم لغات ولهجات إضافية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التوسع لقطاعات التحكيم والشركات</a:t>
            </a: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دعم رؤية المملكة 2030 في التحول الرقمي العدلي</a:t>
            </a:r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19695" y="3200400"/>
            <a:ext cx="7315200" cy="7315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الفريق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764628" y="1600200"/>
            <a:ext cx="2651760" cy="4572000"/>
          </a:xfrm>
          <a:prstGeom prst="roundRect">
            <a:avLst>
              <a:gd name="adj" fmla="val 6897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01788" y="1737360"/>
            <a:ext cx="2377440" cy="4297680"/>
          </a:xfrm>
          <a:prstGeom prst="roundRect">
            <a:avLst>
              <a:gd name="adj" fmla="val 5769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96148" y="201168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96148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947508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روان الرملاوي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22296" y="364236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قيادة الفريق والإشراف على التنفيذ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تطوير فكرة المشروع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تصميم العرض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ar-EG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التقديمي</a:t>
            </a:r>
            <a:endParaRPr lang="en-US" alt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84268" y="1600200"/>
            <a:ext cx="2651760" cy="4572000"/>
          </a:xfrm>
          <a:prstGeom prst="roundRect">
            <a:avLst>
              <a:gd name="adj" fmla="val 6897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1428" y="1737360"/>
            <a:ext cx="2377440" cy="4297680"/>
          </a:xfrm>
          <a:prstGeom prst="roundRect">
            <a:avLst>
              <a:gd name="adj" fmla="val 5769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15788" y="201168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15788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067148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سمر الرملاوي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90160" y="3623734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التنسيق مع خبراء قانونيين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تطوير وتنظيم فكرة المشروع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indent="-285750" algn="r" rt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إعداد العرض التقديمي</a:t>
            </a:r>
            <a:r>
              <a:rPr lang="en-US" alt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9" name="Shape 17"/>
          <p:cNvSpPr/>
          <p:nvPr/>
        </p:nvSpPr>
        <p:spPr>
          <a:xfrm>
            <a:off x="2003908" y="1600200"/>
            <a:ext cx="2651760" cy="4572000"/>
          </a:xfrm>
          <a:prstGeom prst="roundRect">
            <a:avLst>
              <a:gd name="adj" fmla="val 6897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41068" y="1737360"/>
            <a:ext cx="2377440" cy="4297680"/>
          </a:xfrm>
          <a:prstGeom prst="roundRect">
            <a:avLst>
              <a:gd name="adj" fmla="val 5769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35428" y="201168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35428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2186788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شروق فهيد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199336" y="40690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r" rtl="1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تطوير واجهة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المستخدم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RTL</a:t>
            </a:r>
          </a:p>
          <a:p>
            <a:pPr marL="171450" indent="-171450" algn="r" rtl="1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تصميم الهوية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البصرية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والشعار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r" rtl="1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ربط الواجهة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بطبقة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الوكلاء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مُنصِت · Munset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60175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3CCC7E53-342F-2945-D912-0FA16671C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قيادة الفريق والإشراف على التنفيذ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تطوير فكرة المشروع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المساهمة في إعداد وتصميم العرض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728655" cy="5029200"/>
          </a:xfrm>
          <a:prstGeom prst="roundRect">
            <a:avLst>
              <a:gd name="adj" fmla="val 4545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728655" cy="5029200"/>
          </a:xfrm>
          <a:prstGeom prst="roundRect">
            <a:avLst>
              <a:gd name="adj" fmla="val 4545"/>
            </a:avLst>
          </a:prstGeom>
          <a:solidFill>
            <a:srgbClr val="A78BFA">
              <a:alpha val="5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7286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شكراً لكم</a:t>
            </a:r>
            <a:endParaRPr lang="en-US" sz="9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مُنصِت</a:t>
            </a:r>
            <a:r>
              <a:rPr lang="ar-E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8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منظومة</a:t>
            </a: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وكلاء ذكية لتوثيق الجلسات القضائية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Agenticthon 2026 · Multi-Agent Systems · A2A Protocol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698</Words>
  <Application>Microsoft Office PowerPoint</Application>
  <PresentationFormat>Widescreen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مُنصِت — منظومة وكلاء ذكية لتوثيق وتحليل الجلسات القضائية</dc:title>
  <dc:subject>PptxGenJS Presentation</dc:subject>
  <dc:creator>Munset Team</dc:creator>
  <cp:lastModifiedBy>سمر خالد عبدالكريم الرملاوي</cp:lastModifiedBy>
  <cp:revision>5</cp:revision>
  <dcterms:created xsi:type="dcterms:W3CDTF">2026-04-18T13:32:38Z</dcterms:created>
  <dcterms:modified xsi:type="dcterms:W3CDTF">2026-04-19T06:19:59Z</dcterms:modified>
</cp:coreProperties>
</file>